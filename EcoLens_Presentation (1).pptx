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5029200" cy="5029200"/>
          </a:xfrm>
          <a:prstGeom prst="ellipse">
            <a:avLst/>
          </a:prstGeom>
          <a:solidFill>
            <a:srgbClr val="40916C">
              <a:alpha val="22000"/>
            </a:srgbClr>
          </a:solidFill>
          <a:ln w="12700">
            <a:solidFill>
              <a:srgbClr val="40916C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52B788">
              <a:alpha val="18000"/>
            </a:srgbClr>
          </a:solidFill>
          <a:ln w="12700">
            <a:solidFill>
              <a:srgbClr val="52B78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14300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EcoLens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94360" y="24231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Carbon Cost of Browsing Visible — in Real Time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94360" y="3154680"/>
            <a:ext cx="5303520" cy="1828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32461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Parul University Environment Hackathon 2026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3611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Siddhi Rajput (2303051240174)  |  Rakshit Kashyap (2303051240175)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Designing Sustainable Futures in a Digital Age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54864" cy="3749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686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43000" y="868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1078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digital carbon footprint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581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is digital emissions?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EcoLens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0848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and what it does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5800" y="2377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2377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25877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Four-factor emissions model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85800" y="2880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" y="2880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Platforms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30906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platforms tracked in real time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5800" y="3383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" y="3383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Detection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5935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per-model tracking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5800" y="38862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886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Provenance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40965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Auditable, transparent estimates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5800" y="4389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" y="4389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45994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+ dashboard walkthrough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63440" y="8686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868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10789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V3 architecture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63440" y="13716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Behaviour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15819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awareness works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63440" y="18745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1874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2084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privacy assessment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63440" y="2377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20640" y="2377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2587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SDGs 9, 12, and 13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63440" y="2880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0" y="2880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20640" y="30906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63440" y="33832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20640" y="3383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20640" y="3593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EcoLens mission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663440" y="38862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20640" y="3886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20640" y="40965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contact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carbon is invisible — and nobody is fixing that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5029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98448"/>
            <a:ext cx="64008" cy="868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08176"/>
            <a:ext cx="4773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recycle, carry reusable bags, and read food labels.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they perform hundreds of energy-intensive digital actions daily with zero environmental feedback.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5029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304288"/>
            <a:ext cx="64008" cy="868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414016"/>
            <a:ext cx="4773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sector emits ~3–4% of global GHGs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comparable to aviation and growing faster.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310128"/>
            <a:ext cx="5029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3310128"/>
            <a:ext cx="64008" cy="868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419856"/>
            <a:ext cx="4773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cost data exists in research literature.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never been delivered in a real-time, consumer-facing format at the moment of action.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1298448"/>
            <a:ext cx="2834640" cy="27889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97880" y="155448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data exists.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delivers it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matters."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0568" y="3200400"/>
            <a:ext cx="502920" cy="5029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897880" y="37307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EcoLens closes this gap.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Digital Emissions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has a cost — but users never see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98448"/>
            <a:ext cx="192024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335024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~0.3g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02920" y="2240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per Google Search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14600" y="1298448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14600" y="1298448"/>
            <a:ext cx="192024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335024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1460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~3g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2514600" y="2240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per ChatGPT Query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26280" y="1298448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26280" y="1298448"/>
            <a:ext cx="192024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1335024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2628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~0.1kWh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4526280" y="2240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hour Netflix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537960" y="1298448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1298448"/>
            <a:ext cx="192024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1335024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3796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~0.5g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6537960" y="2240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per Amazon page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02920" y="2880360"/>
            <a:ext cx="5212080" cy="17373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640080" y="3017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uses ~10× more energy per query than a Google Search.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40080" y="358444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numbers are hidden from the 5 billion people generating them every day.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897880" y="2880360"/>
            <a:ext cx="2743200" cy="1737360"/>
          </a:xfrm>
          <a:prstGeom prst="rect">
            <a:avLst/>
          </a:prstGeom>
          <a:solidFill>
            <a:srgbClr val="F0F4F1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5989320" y="2971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989320" y="3273552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 et al. (2018)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Industrial Ecology
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IEA (2023)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Analysis &amp; Forecast
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Project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ICT: Digital Sobriety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40916C">
              <a:alpha val="20000"/>
            </a:srgbClr>
          </a:solidFill>
          <a:ln w="12700">
            <a:solidFill>
              <a:srgbClr val="40916C">
                <a:alpha val="2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EcoLens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8640" y="15727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Manifest V3 Chrome extension that makes the carbon cost of everyday browsing visible — in real time.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2377440"/>
            <a:ext cx="3840480" cy="1115568"/>
          </a:xfrm>
          <a:prstGeom prst="rect">
            <a:avLst/>
          </a:prstGeom>
          <a:solidFill>
            <a:srgbClr val="243B2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" y="2377440"/>
            <a:ext cx="384048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42316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4414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9 Platforms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40080" y="280720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ChatGPT, Claude, Gemini, Perplexity, Netflix, YouTube, Spotify &amp; more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0" y="2377440"/>
            <a:ext cx="3840480" cy="1115568"/>
          </a:xfrm>
          <a:prstGeom prst="rect">
            <a:avLst/>
          </a:prstGeom>
          <a:solidFill>
            <a:srgbClr val="243B2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54880" y="2377440"/>
            <a:ext cx="384048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42316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12080" y="24414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Badge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4892040" y="280720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CO₂ estimate injected onto every tracked site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02920" y="3657600"/>
            <a:ext cx="3840480" cy="1115568"/>
          </a:xfrm>
          <a:prstGeom prst="rect">
            <a:avLst/>
          </a:prstGeom>
          <a:solidFill>
            <a:srgbClr val="243B2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02920" y="3657600"/>
            <a:ext cx="384048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70332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7216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Detection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40080" y="40873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breakdown: GPT-4o, Claude Sonnet, Gemini Pro &amp; more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754880" y="3657600"/>
            <a:ext cx="3840480" cy="1115568"/>
          </a:xfrm>
          <a:prstGeom prst="rect">
            <a:avLst/>
          </a:prstGeom>
          <a:solidFill>
            <a:srgbClr val="243B2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754880" y="3657600"/>
            <a:ext cx="384048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703320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12080" y="37216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On-Device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4892040" y="40873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browsing data ever leaves your browser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Four-factor emissions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828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98448"/>
            <a:ext cx="1828800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362456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43000" y="1920240"/>
            <a:ext cx="457200" cy="4572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300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0352" y="24871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Transfer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0352" y="29260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measured via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chrome.webRequest API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42032" y="1298448"/>
            <a:ext cx="1828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42032" y="1298448"/>
            <a:ext cx="1828800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362456"/>
            <a:ext cx="347472" cy="3474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227832" y="1920240"/>
            <a:ext cx="457200" cy="4572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2783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615184" y="24871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Energy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615184" y="29260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heuristics 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user-selected profile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626864" y="1298448"/>
            <a:ext cx="1828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26864" y="1298448"/>
            <a:ext cx="1828800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362456"/>
            <a:ext cx="347472" cy="34747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312664" y="1920240"/>
            <a:ext cx="457200" cy="4572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312664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700016" y="24871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Carbon Intensity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700016" y="29260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from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Maps API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711696" y="1298448"/>
            <a:ext cx="1828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711696" y="1298448"/>
            <a:ext cx="1828800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1362456"/>
            <a:ext cx="347472" cy="34747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397496" y="1920240"/>
            <a:ext cx="457200" cy="4572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397496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784848" y="248716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Baselines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784848" y="29260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Research-backed fallback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per platform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2176272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4261104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6345936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457200" y="3730752"/>
            <a:ext cx="82296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594360" y="384048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CO₂-equivalent estimate stored per site, per day, and per AI model — entirely on-device in chrome.storage.local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Platforms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platforms tracked in real time across search, AI, streaming &amp; e-commerce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920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98448"/>
            <a:ext cx="1920240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624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counted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visit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1298448"/>
            <a:ext cx="1920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298448"/>
            <a:ext cx="192024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624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21214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prompt,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model-aware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298448"/>
            <a:ext cx="1920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298448"/>
            <a:ext cx="192024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3624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1214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prompt,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model-aware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03720" y="1298448"/>
            <a:ext cx="1920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298448"/>
            <a:ext cx="192024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13624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03720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21214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prompt,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model-aware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990088"/>
            <a:ext cx="1920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990088"/>
            <a:ext cx="192024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8130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prompt,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model-aware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06040" y="2990088"/>
            <a:ext cx="1920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06040" y="2990088"/>
            <a:ext cx="192024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06040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06040" y="38130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tracking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2990088"/>
            <a:ext cx="1920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90088"/>
            <a:ext cx="192024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38130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tracking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903720" y="2990088"/>
            <a:ext cx="19202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03720" y="2990088"/>
            <a:ext cx="192024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3054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03720" y="38130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session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09360" y="1298448"/>
            <a:ext cx="1920240" cy="1536192"/>
          </a:xfrm>
          <a:prstGeom prst="rect">
            <a:avLst/>
          </a:prstGeom>
          <a:solidFill>
            <a:srgbClr val="F0F4F1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30936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Support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09360" y="175564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MutationObserver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re-initializes tracking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URL changes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full reload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Detection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per-model emissions — because not all AI queries are equal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920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98448"/>
            <a:ext cx="192024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1874520"/>
            <a:ext cx="1591056" cy="320040"/>
          </a:xfrm>
          <a:prstGeom prst="rect">
            <a:avLst/>
          </a:prstGeom>
          <a:solidFill>
            <a:srgbClr val="F0F4F1"/>
          </a:solidFill>
          <a:ln w="12700">
            <a:solidFill>
              <a:srgbClr val="F0F4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7452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" y="2295144"/>
            <a:ext cx="1591056" cy="320040"/>
          </a:xfrm>
          <a:prstGeom prst="rect">
            <a:avLst/>
          </a:prstGeom>
          <a:solidFill>
            <a:srgbClr val="F0F4F1"/>
          </a:solidFill>
          <a:ln w="12700">
            <a:solidFill>
              <a:srgbClr val="F0F4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95144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" y="2715768"/>
            <a:ext cx="1591056" cy="320040"/>
          </a:xfrm>
          <a:prstGeom prst="rect">
            <a:avLst/>
          </a:prstGeom>
          <a:solidFill>
            <a:srgbClr val="F0F4F1"/>
          </a:solidFill>
          <a:ln w="12700">
            <a:solidFill>
              <a:srgbClr val="F0F4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71576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mini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3136392"/>
            <a:ext cx="1591056" cy="320040"/>
          </a:xfrm>
          <a:prstGeom prst="rect">
            <a:avLst/>
          </a:prstGeom>
          <a:solidFill>
            <a:srgbClr val="F0F4F1"/>
          </a:solidFill>
          <a:ln w="12700">
            <a:solidFill>
              <a:srgbClr val="F0F4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3639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o4-mini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" y="3557016"/>
            <a:ext cx="1591056" cy="320040"/>
          </a:xfrm>
          <a:prstGeom prst="rect">
            <a:avLst/>
          </a:prstGeom>
          <a:solidFill>
            <a:srgbClr val="F0F4F1"/>
          </a:solidFill>
          <a:ln w="12700">
            <a:solidFill>
              <a:srgbClr val="F0F4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557016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" y="3977640"/>
            <a:ext cx="1591056" cy="320040"/>
          </a:xfrm>
          <a:prstGeom prst="rect">
            <a:avLst/>
          </a:prstGeom>
          <a:solidFill>
            <a:srgbClr val="F0F4F1"/>
          </a:solidFill>
          <a:ln w="12700">
            <a:solidFill>
              <a:srgbClr val="F0F4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97764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" y="4398264"/>
            <a:ext cx="1591056" cy="320040"/>
          </a:xfrm>
          <a:prstGeom prst="rect">
            <a:avLst/>
          </a:prstGeom>
          <a:solidFill>
            <a:srgbClr val="F0F4F1"/>
          </a:solidFill>
          <a:ln w="12700">
            <a:solidFill>
              <a:srgbClr val="F0F4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398264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33472" y="1298448"/>
            <a:ext cx="1920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33472" y="1298448"/>
            <a:ext cx="1920240" cy="457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98064" y="1874520"/>
            <a:ext cx="1591056" cy="320040"/>
          </a:xfrm>
          <a:prstGeom prst="rect">
            <a:avLst/>
          </a:prstGeom>
          <a:solidFill>
            <a:srgbClr val="F0F4F1"/>
          </a:solidFill>
          <a:ln w="12700">
            <a:solidFill>
              <a:srgbClr val="F0F4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98064" y="187452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98064" y="2295144"/>
            <a:ext cx="1591056" cy="320040"/>
          </a:xfrm>
          <a:prstGeom prst="rect">
            <a:avLst/>
          </a:prstGeom>
          <a:solidFill>
            <a:srgbClr val="F0F4F1"/>
          </a:solidFill>
          <a:ln w="12700">
            <a:solidFill>
              <a:srgbClr val="F0F4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98064" y="2295144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98064" y="2715768"/>
            <a:ext cx="1591056" cy="320040"/>
          </a:xfrm>
          <a:prstGeom prst="rect">
            <a:avLst/>
          </a:prstGeom>
          <a:solidFill>
            <a:srgbClr val="F0F4F1"/>
          </a:solidFill>
          <a:ln w="12700">
            <a:solidFill>
              <a:srgbClr val="F0F4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98064" y="271576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9744" y="1298448"/>
            <a:ext cx="1920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9744" y="1298448"/>
            <a:ext cx="1920240" cy="45720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74336" y="1874520"/>
            <a:ext cx="1591056" cy="320040"/>
          </a:xfrm>
          <a:prstGeom prst="rect">
            <a:avLst/>
          </a:prstGeom>
          <a:solidFill>
            <a:srgbClr val="F0F4F1"/>
          </a:solidFill>
          <a:ln w="12700">
            <a:solidFill>
              <a:srgbClr val="F0F4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74336" y="187452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74336" y="2295144"/>
            <a:ext cx="1591056" cy="320040"/>
          </a:xfrm>
          <a:prstGeom prst="rect">
            <a:avLst/>
          </a:prstGeom>
          <a:solidFill>
            <a:srgbClr val="F0F4F1"/>
          </a:solidFill>
          <a:ln w="12700">
            <a:solidFill>
              <a:srgbClr val="F0F4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4336" y="2295144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74336" y="2715768"/>
            <a:ext cx="1591056" cy="320040"/>
          </a:xfrm>
          <a:prstGeom prst="rect">
            <a:avLst/>
          </a:prstGeom>
          <a:solidFill>
            <a:srgbClr val="F0F4F1"/>
          </a:solidFill>
          <a:ln w="12700">
            <a:solidFill>
              <a:srgbClr val="F0F4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74336" y="271576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74336" y="3136392"/>
            <a:ext cx="1591056" cy="320040"/>
          </a:xfrm>
          <a:prstGeom prst="rect">
            <a:avLst/>
          </a:prstGeom>
          <a:solidFill>
            <a:srgbClr val="F0F4F1"/>
          </a:solidFill>
          <a:ln w="12700">
            <a:solidFill>
              <a:srgbClr val="F0F4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74336" y="3136392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Pro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86016" y="1298448"/>
            <a:ext cx="1920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86016" y="1298448"/>
            <a:ext cx="192024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86016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150608" y="1874520"/>
            <a:ext cx="1591056" cy="320040"/>
          </a:xfrm>
          <a:prstGeom prst="rect">
            <a:avLst/>
          </a:prstGeom>
          <a:solidFill>
            <a:srgbClr val="F0F4F1"/>
          </a:solidFill>
          <a:ln w="12700">
            <a:solidFill>
              <a:srgbClr val="F0F4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50608" y="1874520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150608" y="2295144"/>
            <a:ext cx="1591056" cy="320040"/>
          </a:xfrm>
          <a:prstGeom prst="rect">
            <a:avLst/>
          </a:prstGeom>
          <a:solidFill>
            <a:srgbClr val="F0F4F1"/>
          </a:solidFill>
          <a:ln w="12700">
            <a:solidFill>
              <a:srgbClr val="F0F4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50608" y="2295144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50608" y="2715768"/>
            <a:ext cx="1591056" cy="320040"/>
          </a:xfrm>
          <a:prstGeom prst="rect">
            <a:avLst/>
          </a:prstGeom>
          <a:solidFill>
            <a:srgbClr val="F0F4F1"/>
          </a:solidFill>
          <a:ln w="12700">
            <a:solidFill>
              <a:srgbClr val="F0F4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50608" y="271576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94360" y="47640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provider default estimate if no model can be identified from the page UI.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Provenance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estimate is fully auditable — users can inspect exactly how it was calculated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98448"/>
            <a:ext cx="73152" cy="7498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6245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measurementMode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 /  estimated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00600" y="1298448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298448"/>
            <a:ext cx="73152" cy="7498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36245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gridSource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65192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/  fallback  /  default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67128"/>
            <a:ext cx="73152" cy="7498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23113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gridZone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carbon intensity zone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2167128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167128"/>
            <a:ext cx="73152" cy="7498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223113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modelConfidence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65192" y="25146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 /  defaulted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035808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35808"/>
            <a:ext cx="73152" cy="7498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0998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deviceSource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" y="3383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heuristic  /  selected profile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3035808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035808"/>
            <a:ext cx="73152" cy="7498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30998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networkKwhUsed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65192" y="3383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from data transfer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904488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904488"/>
            <a:ext cx="73152" cy="74980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396849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baselineKwhUsed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42519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from site baseline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3904488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904488"/>
            <a:ext cx="73152" cy="7498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396849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deviceKwhUsed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65192" y="42519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from device usage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surfaces: in-page badge + popup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3977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61872"/>
            <a:ext cx="3977640" cy="43891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1673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In-Page Badge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792224"/>
            <a:ext cx="3657600" cy="2816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CO₂ estimate (updates continuously)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vs. estimated mode label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AI model name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intensity &amp; region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transferred in session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watch time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Netflix-per-hour benchmark bar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equivalence ("that's like...")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1261872"/>
            <a:ext cx="4069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261872"/>
            <a:ext cx="406908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31673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73168" y="1792224"/>
            <a:ext cx="3794760" cy="2816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total CO₂ emissions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Per-platform breakdown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and 30-day trend charts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Model-level AI breakdown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labels (measured/estimated)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budget alerts at 80% &amp; 100%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reduction tips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selector &amp; account controls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V3 architecture — no build step, runs directly from source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98448"/>
            <a:ext cx="192024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136245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8105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Core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218541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Manifest V3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background script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633472" y="1298448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33472" y="1298448"/>
            <a:ext cx="192024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136245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33472" y="18105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Tracking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633472" y="218541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scripts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MutationObserver for SPAs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809744" y="1298448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09744" y="1298448"/>
            <a:ext cx="192024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696" y="136245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9744" y="18105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Measurement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809744" y="218541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chrome.webRequest API;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site-specific baseline fallback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986016" y="1298448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86016" y="1298448"/>
            <a:ext cx="192024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136245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86016" y="18105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Carbon Data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986016" y="2185416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Maps API (live);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average fallback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57200" y="3054096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" y="3054096"/>
            <a:ext cx="1920240" cy="4389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152" y="3118104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Energy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57200" y="394106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heuristics 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user-selected device profile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2633472" y="3054096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633472" y="3054096"/>
            <a:ext cx="1920240" cy="4389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2424" y="3118104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633472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2633472" y="394106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chrome.storage.local;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180-day totals, 90-day events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4809744" y="3054096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809744" y="3054096"/>
            <a:ext cx="1920240" cy="4389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8696" y="3118104"/>
            <a:ext cx="310896" cy="31089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809744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Sync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4809744" y="394106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backend;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features + leaderboards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6986016" y="3054096"/>
            <a:ext cx="1920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986016" y="3054096"/>
            <a:ext cx="1920240" cy="4389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4968" y="3118104"/>
            <a:ext cx="310896" cy="31089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986016" y="35661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050" dirty="0"/>
          </a:p>
        </p:txBody>
      </p:sp>
      <p:sp>
        <p:nvSpPr>
          <p:cNvPr id="43" name="Text 33"/>
          <p:cNvSpPr/>
          <p:nvPr/>
        </p:nvSpPr>
        <p:spPr>
          <a:xfrm>
            <a:off x="6986016" y="3941064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on-device;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egress by default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Behavioural Science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 is the most effective mechanism for changing habitual behaviour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3200400" cy="11155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71600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901952" y="1389888"/>
            <a:ext cx="1664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household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 from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meter feedback alone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3200400" cy="11155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633472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901952" y="2651760"/>
            <a:ext cx="1664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users generating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digital emissions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822192"/>
            <a:ext cx="3200400" cy="11155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895344"/>
            <a:ext cx="1234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901952" y="3913632"/>
            <a:ext cx="1664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CO₂-equivalent made visible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 1M users ×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1298448"/>
            <a:ext cx="48463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0" y="1298448"/>
            <a:ext cx="484632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1353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Awareness Works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1847088"/>
            <a:ext cx="4553712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economics research demonstrates that contextual, real-time feedback — delivered at the moment of action — consistently outperforms delayed summaries, email nudges, or annual reports in changing habitual behaviour.
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EcoLens applies this principle to digital consumption, targeting habits that recur dozens of times every day across 9 of the world's most-visited platforms.
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solar panels or electric vehicles, EcoLens requires no upfront investment, no lifestyle change, and no infrastructure — just a one-click browser install.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Assessment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 — from hackathon prototype to billions of users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98448"/>
            <a:ext cx="502920" cy="8046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78992" y="1682496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V3 is stable &amp; well-documented. Full feature set achievable by a two-person team. No build step — runs directly from source files.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231136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231136"/>
            <a:ext cx="502920" cy="8046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5059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23225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Reliability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78992" y="261518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combine peer-reviewed baselines (Aslan et al., IEA, Shift Project) with live grid data. Provenance labels distinguish measured from estimated.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163824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163824"/>
            <a:ext cx="502920" cy="80467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38328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78992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Ethics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78992" y="35478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local-first. No browsing data, queries, or identifiers transmitted without explicit opt-in. Optional Supabase sync requires user sign-in.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4096512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4096512"/>
            <a:ext cx="502920" cy="8046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31596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78992" y="4187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078992" y="448056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Publishable to Chrome Web Store, Firefox Add-ons &amp; Edge Add-ons. One codebase reaches billions of users at near-zero marginal cost.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EcoLens directly advances three Sustainable Development Goals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33472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98448"/>
            <a:ext cx="2633472" cy="65836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3502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68249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Innovation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Infrastructure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084832"/>
            <a:ext cx="2414016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that responsible, privacy-preserving digital innovation requires no backend infrastructure. Provides a replicable open-architecture model for sustainable browser tooling that other developers can extend.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5848" y="1298448"/>
            <a:ext cx="2633472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298448"/>
            <a:ext cx="2633472" cy="6583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33502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55848" y="168249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Production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65576" y="2084832"/>
            <a:ext cx="2414016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hidden environmental cost of digital consumption transparent at the exact moment of action — turning abstract emissions data into personal, actionable feedback for billions of internet users.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54496" y="1298448"/>
            <a:ext cx="2633472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54496" y="1298448"/>
            <a:ext cx="2633472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33502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54496" y="168249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64224" y="2084832"/>
            <a:ext cx="2414016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behavioural economics research to digital habits — the fastest-growing emissions category. Enables individual climate action at scale without requiring infrastructure investment or lifestyle sacrifice.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9202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98448"/>
            <a:ext cx="1920240" cy="56692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1673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2066544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9933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Web Store publication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2871216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79806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Electricity Maps integration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" y="3675888"/>
            <a:ext cx="182880" cy="1828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60273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repository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33472" y="1298448"/>
            <a:ext cx="19202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33472" y="1298448"/>
            <a:ext cx="192024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31673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98064" y="2066544"/>
            <a:ext cx="182880" cy="1828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35808" y="19933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&amp; Edge ports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98064" y="2871216"/>
            <a:ext cx="182880" cy="1828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35808" y="279806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extension (beta)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98064" y="3675888"/>
            <a:ext cx="182880" cy="1828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35808" y="360273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carbon digest emails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9744" y="1298448"/>
            <a:ext cx="19202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9744" y="1298448"/>
            <a:ext cx="1920240" cy="566928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131673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74336" y="2066544"/>
            <a:ext cx="182880" cy="18288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19933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model-energy API (AI providers)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74336" y="2871216"/>
            <a:ext cx="182880" cy="18288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279806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dashboard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74336" y="3675888"/>
            <a:ext cx="182880" cy="18288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360273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carbon challenges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86016" y="1298448"/>
            <a:ext cx="19202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86016" y="1298448"/>
            <a:ext cx="1920240" cy="56692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86016" y="131673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50608" y="2066544"/>
            <a:ext cx="182880" cy="1828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88352" y="199339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browser support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150608" y="2871216"/>
            <a:ext cx="182880" cy="1828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88352" y="279806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Router-level tracking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150608" y="3675888"/>
            <a:ext cx="182880" cy="1828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88352" y="360273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label standard proposal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94360" y="482803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EcoLens is open-source. Every browser install multiplies the impact at zero marginal cost.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5029200" cy="5029200"/>
          </a:xfrm>
          <a:prstGeom prst="ellipse">
            <a:avLst/>
          </a:prstGeom>
          <a:solidFill>
            <a:srgbClr val="40916C">
              <a:alpha val="22000"/>
            </a:srgbClr>
          </a:solidFill>
          <a:ln w="12700">
            <a:solidFill>
              <a:srgbClr val="40916C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2D6A4F">
              <a:alpha val="20000"/>
            </a:srgbClr>
          </a:solidFill>
          <a:ln w="12700">
            <a:solidFill>
              <a:srgbClr val="2D6A4F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078992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594360" y="19933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EcoLens — Making Digital Carbon Visible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94360" y="2542032"/>
            <a:ext cx="5029200" cy="1828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670048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Siddhi Rajput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2303051240174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Rakshit Kashyap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2303051240175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3703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Parul University Environment Hackathon 2026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114800"/>
            <a:ext cx="8046720" cy="868680"/>
          </a:xfrm>
          <a:prstGeom prst="rect">
            <a:avLst/>
          </a:prstGeom>
          <a:solidFill>
            <a:srgbClr val="243B2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13232" y="41513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13232" y="4370832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 et al. (2018) Journal of Industrial Ecology  |  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IEA (2023) Electricity 2023  |  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Project (2021) Lean ICT  |  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Strubell et al. (2019) ACL  |  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Maps (2024)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EcoLens — Parul University Environment Hackathon 2026</dc:title>
  <dc:subject>PptxGenJS Presentation</dc:subject>
  <dc:creator>PptxGenJS</dc:creator>
  <cp:lastModifiedBy>PptxGenJS</cp:lastModifiedBy>
  <cp:revision>1</cp:revision>
  <dcterms:created xsi:type="dcterms:W3CDTF">2026-05-29T10:24:08Z</dcterms:created>
  <dcterms:modified xsi:type="dcterms:W3CDTF">2026-05-29T10:24:08Z</dcterms:modified>
</cp:coreProperties>
</file>